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0713D-47B8-43B3-8699-C1F5C0FC9FAD}" v="32" dt="2024-08-28T18:02:46.362"/>
    <p1510:client id="{7C59807C-9C44-41CD-85E4-0C5AE6341A81}" v="17" dt="2024-08-28T17:06:11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known Gumanam" userId="089b711d12a2d243" providerId="LiveId" clId="{96D09421-B245-452B-A8C2-3892C234B02F}"/>
    <pc:docChg chg="undo custSel modSld sldOrd">
      <pc:chgData name="Unknown Gumanam" userId="089b711d12a2d243" providerId="LiveId" clId="{96D09421-B245-452B-A8C2-3892C234B02F}" dt="2024-08-29T04:13:48.169" v="118" actId="20577"/>
      <pc:docMkLst>
        <pc:docMk/>
      </pc:docMkLst>
      <pc:sldChg chg="modSp mod">
        <pc:chgData name="Unknown Gumanam" userId="089b711d12a2d243" providerId="LiveId" clId="{96D09421-B245-452B-A8C2-3892C234B02F}" dt="2024-08-29T04:13:48.169" v="118" actId="20577"/>
        <pc:sldMkLst>
          <pc:docMk/>
          <pc:sldMk cId="0" sldId="281"/>
        </pc:sldMkLst>
        <pc:spChg chg="mod">
          <ac:chgData name="Unknown Gumanam" userId="089b711d12a2d243" providerId="LiveId" clId="{96D09421-B245-452B-A8C2-3892C234B02F}" dt="2024-08-29T04:13:48.169" v="118" actId="20577"/>
          <ac:spMkLst>
            <pc:docMk/>
            <pc:sldMk cId="0" sldId="281"/>
            <ac:spMk id="3" creationId="{C59E4414-2D03-29CA-2CB3-BA2475E1E7BA}"/>
          </ac:spMkLst>
        </pc:spChg>
      </pc:sldChg>
      <pc:sldChg chg="ord">
        <pc:chgData name="Unknown Gumanam" userId="089b711d12a2d243" providerId="LiveId" clId="{96D09421-B245-452B-A8C2-3892C234B02F}" dt="2024-08-29T03:57:51.936" v="50"/>
        <pc:sldMkLst>
          <pc:docMk/>
          <pc:sldMk cId="2997144140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hyperlink" Target="https://www.figma.com/proto/GHFBZCVMaERsTPwgpQj9v1/SIH---Beach-Weather-Forecast?node-id=1-89&amp;t=VWfL8v54hkqGLe4X-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cois.gov.i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console.cloud.google.com/apis/library?hl=en&amp;project=zinc-bucksaw-433313-u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497692" y="223127"/>
            <a:ext cx="8540044" cy="941496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8886" y="1108022"/>
            <a:ext cx="11531600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1656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of a mobile application to provide                                                             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recreational suitability information of beach locations across India.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montserratregular"/>
              </a:rPr>
              <a:t>Travel &amp; Tourism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IN" sz="24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regular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thephoenixteam06@gmail.com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IN" sz="2400" dirty="0"/>
              <a:t>Travel Tech Titans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45425" y="223127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200" b="1" dirty="0">
                <a:latin typeface="Calibri" panose="020F0502020204030204" pitchFamily="34" charset="0"/>
                <a:ea typeface="ＭＳ Ｐゴシック" pitchFamily="1" charset="-128"/>
                <a:cs typeface="Times New Roman" panose="02020603050405020304" pitchFamily="18" charset="0"/>
              </a:rPr>
              <a:t>T</a:t>
            </a:r>
            <a:r>
              <a:rPr lang="en-IN" sz="3200" b="1" dirty="0">
                <a:effectLst/>
                <a:latin typeface="Calibri" panose="020F0502020204030204" pitchFamily="34" charset="0"/>
              </a:rPr>
              <a:t>he Coastal Tourism Suitability Mobile App</a:t>
            </a: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97867"/>
            <a:ext cx="1420369" cy="9325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9E4414-2D03-29CA-2CB3-BA2475E1E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4" y="1648787"/>
            <a:ext cx="1205048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Solution Overview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 for Android that provides real-time assessments of coastal locations' suitability for tourism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INCOIS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Addressed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tourist safety by offering real-time environmental data and provide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 information.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coastline map with color-coded safety statuses.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dvanced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geospatial tools (Google Maps API) and machine learning for enhanced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Engagement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Personalized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lerts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 feedback on beach conditions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eather forecasts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bility to save favorite beaches.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and Maintenance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encryption, secure authentication, compliance with privacy laws, regular updates, and real-time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603801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88669" y="207958"/>
            <a:ext cx="1415981" cy="8563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32E7849-1A64-E741-66A7-9F379AB40385}"/>
              </a:ext>
            </a:extLst>
          </p:cNvPr>
          <p:cNvGrpSpPr/>
          <p:nvPr/>
        </p:nvGrpSpPr>
        <p:grpSpPr>
          <a:xfrm>
            <a:off x="4883394" y="2170808"/>
            <a:ext cx="6932445" cy="3656241"/>
            <a:chOff x="411482" y="1173445"/>
            <a:chExt cx="11369036" cy="480955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CB7E2E3-9437-4CCF-BCED-97AF254F4C2F}"/>
                </a:ext>
              </a:extLst>
            </p:cNvPr>
            <p:cNvSpPr/>
            <p:nvPr/>
          </p:nvSpPr>
          <p:spPr>
            <a:xfrm>
              <a:off x="411482" y="1194079"/>
              <a:ext cx="2130552" cy="7040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Admin </a:t>
              </a:r>
              <a:endParaRPr lang="en-IN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509CC6-E880-033B-F4D9-37AB66148CC5}"/>
                </a:ext>
              </a:extLst>
            </p:cNvPr>
            <p:cNvCxnSpPr>
              <a:cxnSpLocks/>
            </p:cNvCxnSpPr>
            <p:nvPr/>
          </p:nvCxnSpPr>
          <p:spPr>
            <a:xfrm>
              <a:off x="2578905" y="1546123"/>
              <a:ext cx="1261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CB110D-8E0E-EC69-09A1-C753393AD852}"/>
                </a:ext>
              </a:extLst>
            </p:cNvPr>
            <p:cNvSpPr/>
            <p:nvPr/>
          </p:nvSpPr>
          <p:spPr>
            <a:xfrm>
              <a:off x="3840777" y="1173445"/>
              <a:ext cx="2212848" cy="704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Add Location</a:t>
              </a:r>
              <a:endParaRPr lang="en-IN" sz="1600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488195-550F-0DD2-517A-AF454855AA30}"/>
                </a:ext>
              </a:extLst>
            </p:cNvPr>
            <p:cNvSpPr/>
            <p:nvPr/>
          </p:nvSpPr>
          <p:spPr>
            <a:xfrm>
              <a:off x="411482" y="2115270"/>
              <a:ext cx="2130552" cy="7040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User</a:t>
              </a:r>
              <a:endParaRPr lang="en-IN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CF921CE-AAE6-AC10-D855-028E3FE5F039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 flipV="1">
              <a:off x="2542034" y="2467307"/>
              <a:ext cx="1261872" cy="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F85B74B-DFD5-5589-40D7-18040D17645A}"/>
                </a:ext>
              </a:extLst>
            </p:cNvPr>
            <p:cNvSpPr/>
            <p:nvPr/>
          </p:nvSpPr>
          <p:spPr>
            <a:xfrm>
              <a:off x="3803906" y="2115270"/>
              <a:ext cx="4498848" cy="704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/>
                <a:t>Select beach according to current climatic condition indicated by colored indexing</a:t>
              </a:r>
              <a:endParaRPr lang="en-IN" sz="1200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5EE8F6B-8B92-08B1-70F6-A85D64B329E6}"/>
                </a:ext>
              </a:extLst>
            </p:cNvPr>
            <p:cNvCxnSpPr>
              <a:cxnSpLocks/>
            </p:cNvCxnSpPr>
            <p:nvPr/>
          </p:nvCxnSpPr>
          <p:spPr>
            <a:xfrm>
              <a:off x="1399034" y="2819358"/>
              <a:ext cx="0" cy="8092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81A0365-F80B-89C8-3516-6CB2B1973A02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1399034" y="3628603"/>
              <a:ext cx="2404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01A852E-8519-7D46-74F9-BCA74822C799}"/>
                </a:ext>
              </a:extLst>
            </p:cNvPr>
            <p:cNvSpPr/>
            <p:nvPr/>
          </p:nvSpPr>
          <p:spPr>
            <a:xfrm>
              <a:off x="9052564" y="2709630"/>
              <a:ext cx="2727954" cy="8092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Climatic Details of Beach Displayed </a:t>
              </a:r>
              <a:endParaRPr lang="en-IN" dirty="0"/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BF29F8FC-92BB-F1AC-E1A0-FB0CEB462266}"/>
                </a:ext>
              </a:extLst>
            </p:cNvPr>
            <p:cNvCxnSpPr>
              <a:stCxn id="33" idx="3"/>
              <a:endCxn id="36" idx="1"/>
            </p:cNvCxnSpPr>
            <p:nvPr/>
          </p:nvCxnSpPr>
          <p:spPr>
            <a:xfrm>
              <a:off x="8302754" y="2467307"/>
              <a:ext cx="749810" cy="64694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1DE25A7D-3FDD-8091-104C-A3615E2DA580}"/>
                </a:ext>
              </a:extLst>
            </p:cNvPr>
            <p:cNvCxnSpPr>
              <a:stCxn id="47" idx="3"/>
              <a:endCxn id="36" idx="1"/>
            </p:cNvCxnSpPr>
            <p:nvPr/>
          </p:nvCxnSpPr>
          <p:spPr>
            <a:xfrm flipV="1">
              <a:off x="8302750" y="3114253"/>
              <a:ext cx="749814" cy="51435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28D0E76-89ED-A326-446D-00C6B7986C05}"/>
                </a:ext>
              </a:extLst>
            </p:cNvPr>
            <p:cNvSpPr/>
            <p:nvPr/>
          </p:nvSpPr>
          <p:spPr>
            <a:xfrm>
              <a:off x="3563127" y="4520136"/>
              <a:ext cx="2633474" cy="117957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/>
                <a:t>Fetch Details of all Beaches from API</a:t>
              </a:r>
              <a:endParaRPr lang="en-IN" sz="1200" dirty="0"/>
            </a:p>
          </p:txBody>
        </p:sp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AA39A4B5-474C-A97A-FB6D-B15D04F4A3C2}"/>
                </a:ext>
              </a:extLst>
            </p:cNvPr>
            <p:cNvCxnSpPr>
              <a:cxnSpLocks/>
              <a:stCxn id="31" idx="2"/>
              <a:endCxn id="39" idx="2"/>
            </p:cNvCxnSpPr>
            <p:nvPr/>
          </p:nvCxnSpPr>
          <p:spPr>
            <a:xfrm rot="16200000" flipH="1">
              <a:off x="1374659" y="2921456"/>
              <a:ext cx="2290566" cy="2086369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D687354A-9BDF-1F29-EB3D-1FC0B2A65F61}"/>
                </a:ext>
              </a:extLst>
            </p:cNvPr>
            <p:cNvCxnSpPr>
              <a:cxnSpLocks/>
              <a:stCxn id="39" idx="6"/>
              <a:endCxn id="44" idx="2"/>
            </p:cNvCxnSpPr>
            <p:nvPr/>
          </p:nvCxnSpPr>
          <p:spPr>
            <a:xfrm>
              <a:off x="6196601" y="5109924"/>
              <a:ext cx="921246" cy="2286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2" name="TextBox 44">
              <a:extLst>
                <a:ext uri="{FF2B5EF4-FFF2-40B4-BE49-F238E27FC236}">
                  <a16:creationId xmlns:a16="http://schemas.microsoft.com/office/drawing/2014/main" id="{404F8925-7D91-7F9F-3768-8F88920974A8}"/>
                </a:ext>
              </a:extLst>
            </p:cNvPr>
            <p:cNvSpPr txBox="1"/>
            <p:nvPr/>
          </p:nvSpPr>
          <p:spPr>
            <a:xfrm>
              <a:off x="6053327" y="5132792"/>
              <a:ext cx="1467066" cy="850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Wind_speed</a:t>
              </a:r>
            </a:p>
            <a:p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Wave_height</a:t>
              </a:r>
              <a:endParaRPr lang="en-US" sz="900" dirty="0">
                <a:solidFill>
                  <a:schemeClr val="bg2">
                    <a:lumMod val="50000"/>
                  </a:schemeClr>
                </a:solidFill>
              </a:endParaRPr>
            </a:p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Water_quality</a:t>
              </a:r>
            </a:p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Ocean_current</a:t>
              </a:r>
              <a:endParaRPr lang="en-IN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D818A18B-4803-2549-5329-6D20F66D13C4}"/>
                </a:ext>
              </a:extLst>
            </p:cNvPr>
            <p:cNvCxnSpPr>
              <a:stCxn id="33" idx="2"/>
              <a:endCxn id="44" idx="0"/>
            </p:cNvCxnSpPr>
            <p:nvPr/>
          </p:nvCxnSpPr>
          <p:spPr>
            <a:xfrm rot="16200000" flipH="1">
              <a:off x="6299830" y="2572842"/>
              <a:ext cx="1723660" cy="221666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9E43BA2-37AB-F9E0-1837-954411D18A45}"/>
                </a:ext>
              </a:extLst>
            </p:cNvPr>
            <p:cNvSpPr/>
            <p:nvPr/>
          </p:nvSpPr>
          <p:spPr>
            <a:xfrm>
              <a:off x="7117847" y="4543003"/>
              <a:ext cx="2304288" cy="117957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Store in Database</a:t>
              </a:r>
              <a:endParaRPr lang="en-IN" sz="1600" dirty="0"/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CE336B79-FC80-3E2E-BF51-76815001CF06}"/>
                </a:ext>
              </a:extLst>
            </p:cNvPr>
            <p:cNvCxnSpPr>
              <a:stCxn id="44" idx="6"/>
              <a:endCxn id="36" idx="2"/>
            </p:cNvCxnSpPr>
            <p:nvPr/>
          </p:nvCxnSpPr>
          <p:spPr>
            <a:xfrm flipV="1">
              <a:off x="9422135" y="3518875"/>
              <a:ext cx="994406" cy="1613916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Connector: Curved 45">
              <a:extLst>
                <a:ext uri="{FF2B5EF4-FFF2-40B4-BE49-F238E27FC236}">
                  <a16:creationId xmlns:a16="http://schemas.microsoft.com/office/drawing/2014/main" id="{0460D786-0A90-D352-8136-A7E92DEAB8BA}"/>
                </a:ext>
              </a:extLst>
            </p:cNvPr>
            <p:cNvCxnSpPr>
              <a:stCxn id="47" idx="2"/>
              <a:endCxn id="44" idx="0"/>
            </p:cNvCxnSpPr>
            <p:nvPr/>
          </p:nvCxnSpPr>
          <p:spPr>
            <a:xfrm rot="16200000" flipH="1">
              <a:off x="6866765" y="3139777"/>
              <a:ext cx="589788" cy="2216663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6F573E6-703D-341D-05E2-0A49C671BF1C}"/>
                </a:ext>
              </a:extLst>
            </p:cNvPr>
            <p:cNvSpPr/>
            <p:nvPr/>
          </p:nvSpPr>
          <p:spPr>
            <a:xfrm>
              <a:off x="3803906" y="3303991"/>
              <a:ext cx="4498844" cy="6492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Search desired Beach</a:t>
              </a:r>
              <a:endParaRPr lang="en-IN" dirty="0"/>
            </a:p>
          </p:txBody>
        </p:sp>
        <p:sp>
          <p:nvSpPr>
            <p:cNvPr id="48" name="TextBox 62">
              <a:extLst>
                <a:ext uri="{FF2B5EF4-FFF2-40B4-BE49-F238E27FC236}">
                  <a16:creationId xmlns:a16="http://schemas.microsoft.com/office/drawing/2014/main" id="{705A4A7A-EFB9-5D43-A190-C774F19DFD71}"/>
                </a:ext>
              </a:extLst>
            </p:cNvPr>
            <p:cNvSpPr txBox="1"/>
            <p:nvPr/>
          </p:nvSpPr>
          <p:spPr>
            <a:xfrm>
              <a:off x="6356567" y="4142952"/>
              <a:ext cx="805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Location</a:t>
              </a:r>
              <a:endParaRPr lang="en-IN" sz="14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9" name="TextBox 63">
              <a:extLst>
                <a:ext uri="{FF2B5EF4-FFF2-40B4-BE49-F238E27FC236}">
                  <a16:creationId xmlns:a16="http://schemas.microsoft.com/office/drawing/2014/main" id="{F1F9CF67-0586-A685-8C35-897738F4BA0A}"/>
                </a:ext>
              </a:extLst>
            </p:cNvPr>
            <p:cNvSpPr txBox="1"/>
            <p:nvPr/>
          </p:nvSpPr>
          <p:spPr>
            <a:xfrm>
              <a:off x="10242814" y="4043922"/>
              <a:ext cx="1534669" cy="850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Send details of selected Beach</a:t>
              </a:r>
            </a:p>
            <a:p>
              <a:r>
                <a:rPr lang="en-US" sz="900" dirty="0">
                  <a:solidFill>
                    <a:schemeClr val="bg2">
                      <a:lumMod val="10000"/>
                    </a:schemeClr>
                  </a:solidFill>
                </a:rPr>
                <a:t>(Alert and Warn if not suitable)</a:t>
              </a:r>
              <a:endParaRPr lang="en-IN" sz="9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pic>
        <p:nvPicPr>
          <p:cNvPr id="1028" name="Picture 4" descr="Download Flutter Logo PNG and Vector (PDF, SVG, Ai, EPS) Free">
            <a:extLst>
              <a:ext uri="{FF2B5EF4-FFF2-40B4-BE49-F238E27FC236}">
                <a16:creationId xmlns:a16="http://schemas.microsoft.com/office/drawing/2014/main" id="{E3CB0818-BC2F-9B72-B757-85EB34C37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82" y="2650309"/>
            <a:ext cx="1299137" cy="119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E1274FF-01E4-5DE7-ECAA-AAB53737D228}"/>
              </a:ext>
            </a:extLst>
          </p:cNvPr>
          <p:cNvSpPr txBox="1"/>
          <p:nvPr/>
        </p:nvSpPr>
        <p:spPr>
          <a:xfrm>
            <a:off x="996660" y="1705560"/>
            <a:ext cx="2662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Technologies Stack:</a:t>
            </a:r>
            <a:endParaRPr lang="en-IN" sz="2400" b="1" dirty="0"/>
          </a:p>
        </p:txBody>
      </p:sp>
      <p:pic>
        <p:nvPicPr>
          <p:cNvPr id="1030" name="Picture 6" descr="Python Logo PNG Transparent – Brands Logos">
            <a:extLst>
              <a:ext uri="{FF2B5EF4-FFF2-40B4-BE49-F238E27FC236}">
                <a16:creationId xmlns:a16="http://schemas.microsoft.com/office/drawing/2014/main" id="{B71ABCBF-5162-69E6-BEF7-35C185F52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447" y="2272385"/>
            <a:ext cx="938344" cy="93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SQL logo PNG">
            <a:extLst>
              <a:ext uri="{FF2B5EF4-FFF2-40B4-BE49-F238E27FC236}">
                <a16:creationId xmlns:a16="http://schemas.microsoft.com/office/drawing/2014/main" id="{BE9C6AF8-3A90-B190-62F7-9340798D5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258" y="3624077"/>
            <a:ext cx="1272195" cy="119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art, un lenguaje del futuro | EDteam">
            <a:extLst>
              <a:ext uri="{FF2B5EF4-FFF2-40B4-BE49-F238E27FC236}">
                <a16:creationId xmlns:a16="http://schemas.microsoft.com/office/drawing/2014/main" id="{4B8376D9-2951-ECE6-0210-DABA0BE16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420" y="5398926"/>
            <a:ext cx="1519985" cy="113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57F6B76-561A-D6F3-E716-3D92DBFFCC46}"/>
              </a:ext>
            </a:extLst>
          </p:cNvPr>
          <p:cNvSpPr txBox="1"/>
          <p:nvPr/>
        </p:nvSpPr>
        <p:spPr>
          <a:xfrm>
            <a:off x="5182132" y="1693777"/>
            <a:ext cx="27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Overview</a:t>
            </a:r>
            <a:endParaRPr lang="en-IN" sz="2400" b="1" dirty="0"/>
          </a:p>
        </p:txBody>
      </p:sp>
      <p:pic>
        <p:nvPicPr>
          <p:cNvPr id="1040" name="Picture 16" descr="What is GraphQL &amp; how to use it – AC's Notes">
            <a:extLst>
              <a:ext uri="{FF2B5EF4-FFF2-40B4-BE49-F238E27FC236}">
                <a16:creationId xmlns:a16="http://schemas.microsoft.com/office/drawing/2014/main" id="{4CADCC8A-BAE0-86F3-B100-AADB16C91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56" y="4500371"/>
            <a:ext cx="1867564" cy="100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263B03F-D633-6AF2-46A6-7CB9176A1C48}"/>
              </a:ext>
            </a:extLst>
          </p:cNvPr>
          <p:cNvSpPr/>
          <p:nvPr/>
        </p:nvSpPr>
        <p:spPr>
          <a:xfrm>
            <a:off x="4648200" y="5588822"/>
            <a:ext cx="2058143" cy="11399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1800" b="1" i="1">
                <a:solidFill>
                  <a:schemeClr val="bg2">
                    <a:lumMod val="10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PROTOTYPE</a:t>
            </a:r>
            <a:endParaRPr lang="en-IN" sz="1800" b="1" i="1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2284" y="18098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89341" y="63003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42804"/>
            <a:ext cx="1381040" cy="9289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554C78-6626-0E2B-8517-574D801EF65A}"/>
              </a:ext>
            </a:extLst>
          </p:cNvPr>
          <p:cNvSpPr/>
          <p:nvPr/>
        </p:nvSpPr>
        <p:spPr>
          <a:xfrm>
            <a:off x="2214094" y="2448763"/>
            <a:ext cx="2979175" cy="196047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 Technological Feasibility: </a:t>
            </a:r>
            <a:r>
              <a:rPr lang="en-US" dirty="0"/>
              <a:t>The app can be built using existing tools (Flutter, INCOIS API(Application Programming Interface), Google Maps API).</a:t>
            </a:r>
          </a:p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1FE97A-B925-63A3-516F-1D4544637E4F}"/>
              </a:ext>
            </a:extLst>
          </p:cNvPr>
          <p:cNvSpPr/>
          <p:nvPr/>
        </p:nvSpPr>
        <p:spPr>
          <a:xfrm>
            <a:off x="2190987" y="4773671"/>
            <a:ext cx="2979175" cy="193457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Market Feasibility: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High demand for real-time safety information in coastal tourism indicates strong market  potential.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DC7DE5-4693-00EF-F553-B82C5BA9277C}"/>
              </a:ext>
            </a:extLst>
          </p:cNvPr>
          <p:cNvSpPr/>
          <p:nvPr/>
        </p:nvSpPr>
        <p:spPr>
          <a:xfrm>
            <a:off x="2190985" y="1243689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Feasibility Analysis: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1604D9-7CAE-84B1-AA8B-C49B23D00EBB}"/>
              </a:ext>
            </a:extLst>
          </p:cNvPr>
          <p:cNvCxnSpPr>
            <a:cxnSpLocks/>
          </p:cNvCxnSpPr>
          <p:nvPr/>
        </p:nvCxnSpPr>
        <p:spPr>
          <a:xfrm>
            <a:off x="3106994" y="2031494"/>
            <a:ext cx="0" cy="4172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BEF5B7-B504-D1B2-78D4-DDDCF1709F65}"/>
              </a:ext>
            </a:extLst>
          </p:cNvPr>
          <p:cNvCxnSpPr>
            <a:cxnSpLocks/>
          </p:cNvCxnSpPr>
          <p:nvPr/>
        </p:nvCxnSpPr>
        <p:spPr>
          <a:xfrm>
            <a:off x="4178710" y="2043911"/>
            <a:ext cx="0" cy="404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251E866-2C90-CC6C-109E-E293E45102A5}"/>
              </a:ext>
            </a:extLst>
          </p:cNvPr>
          <p:cNvSpPr/>
          <p:nvPr/>
        </p:nvSpPr>
        <p:spPr>
          <a:xfrm>
            <a:off x="7498604" y="1209860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Challenges and Risks: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897529-0D28-0FA1-CEA8-AADDC02B9789}"/>
              </a:ext>
            </a:extLst>
          </p:cNvPr>
          <p:cNvSpPr/>
          <p:nvPr/>
        </p:nvSpPr>
        <p:spPr>
          <a:xfrm>
            <a:off x="6359701" y="2500138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Data Accuracy: </a:t>
            </a:r>
            <a:r>
              <a:rPr lang="en-US" sz="1600" dirty="0"/>
              <a:t>Reliability of real-time data from INCOIS is crucial; any inaccuracies could erode user trust.</a:t>
            </a:r>
            <a:endParaRPr lang="en-IN" sz="16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6EFAEE-E0F2-0275-E5D5-7F7E7F8AE8D9}"/>
              </a:ext>
            </a:extLst>
          </p:cNvPr>
          <p:cNvSpPr/>
          <p:nvPr/>
        </p:nvSpPr>
        <p:spPr>
          <a:xfrm>
            <a:off x="9577014" y="4773671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Security: </a:t>
            </a:r>
          </a:p>
          <a:p>
            <a:pPr algn="ctr"/>
            <a:r>
              <a:rPr lang="en-US" sz="1600" dirty="0"/>
              <a:t>Handling sensitive user data poses risks related to privacy and potential breaches.</a:t>
            </a:r>
            <a:endParaRPr lang="en-IN" sz="16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FB5AA9-9722-4B6B-DF2B-ABD2B053D760}"/>
              </a:ext>
            </a:extLst>
          </p:cNvPr>
          <p:cNvSpPr/>
          <p:nvPr/>
        </p:nvSpPr>
        <p:spPr>
          <a:xfrm>
            <a:off x="9540962" y="2500137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User Engagement: </a:t>
            </a:r>
            <a:r>
              <a:rPr lang="en-US" sz="1600" dirty="0"/>
              <a:t>Maintaining engagement, especially off-season, could be challenging.</a:t>
            </a:r>
            <a:endParaRPr lang="en-IN" sz="16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60A7C92-4596-A19D-1A7B-E9E51F6C8D5D}"/>
              </a:ext>
            </a:extLst>
          </p:cNvPr>
          <p:cNvSpPr/>
          <p:nvPr/>
        </p:nvSpPr>
        <p:spPr>
          <a:xfrm>
            <a:off x="6359701" y="4773670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Scalability: </a:t>
            </a:r>
          </a:p>
          <a:p>
            <a:pPr algn="ctr"/>
            <a:r>
              <a:rPr lang="en-US" sz="1600" dirty="0"/>
              <a:t>Managing increased user load and real-time processing could strain infrastructure.</a:t>
            </a:r>
            <a:endParaRPr lang="en-IN" sz="1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FF6A0B-FBDE-A51A-76C4-3BDD1D4CD018}"/>
              </a:ext>
            </a:extLst>
          </p:cNvPr>
          <p:cNvCxnSpPr/>
          <p:nvPr/>
        </p:nvCxnSpPr>
        <p:spPr>
          <a:xfrm>
            <a:off x="7698000" y="2004583"/>
            <a:ext cx="0" cy="4955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DA91366-82C5-2AF3-45D3-72EE0A6A9501}"/>
              </a:ext>
            </a:extLst>
          </p:cNvPr>
          <p:cNvCxnSpPr/>
          <p:nvPr/>
        </p:nvCxnSpPr>
        <p:spPr>
          <a:xfrm>
            <a:off x="10160000" y="2001280"/>
            <a:ext cx="0" cy="5021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064C27-9427-8546-48EE-5D659009693A}"/>
              </a:ext>
            </a:extLst>
          </p:cNvPr>
          <p:cNvCxnSpPr>
            <a:cxnSpLocks/>
          </p:cNvCxnSpPr>
          <p:nvPr/>
        </p:nvCxnSpPr>
        <p:spPr>
          <a:xfrm>
            <a:off x="2925097" y="4409237"/>
            <a:ext cx="0" cy="3644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4373DE-E62A-DF11-D583-E0446F7DEF73}"/>
              </a:ext>
            </a:extLst>
          </p:cNvPr>
          <p:cNvCxnSpPr>
            <a:cxnSpLocks/>
          </p:cNvCxnSpPr>
          <p:nvPr/>
        </p:nvCxnSpPr>
        <p:spPr>
          <a:xfrm>
            <a:off x="4306529" y="4409237"/>
            <a:ext cx="0" cy="364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EA9F6C3-6EB3-A834-C75D-0C099DA62E31}"/>
              </a:ext>
            </a:extLst>
          </p:cNvPr>
          <p:cNvCxnSpPr>
            <a:cxnSpLocks/>
          </p:cNvCxnSpPr>
          <p:nvPr/>
        </p:nvCxnSpPr>
        <p:spPr>
          <a:xfrm>
            <a:off x="7488772" y="4145196"/>
            <a:ext cx="0" cy="6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24B9F7C-9341-6DBC-C9BB-875198550363}"/>
              </a:ext>
            </a:extLst>
          </p:cNvPr>
          <p:cNvCxnSpPr>
            <a:cxnSpLocks/>
          </p:cNvCxnSpPr>
          <p:nvPr/>
        </p:nvCxnSpPr>
        <p:spPr>
          <a:xfrm>
            <a:off x="10679865" y="4158401"/>
            <a:ext cx="0" cy="6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03122" y="20834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-1816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9165" y="335587"/>
            <a:ext cx="1510305" cy="9782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Travel Tech Titans</a:t>
            </a:r>
          </a:p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C9E9BC-9D29-CF12-5B5B-67986DB2623A}"/>
              </a:ext>
            </a:extLst>
          </p:cNvPr>
          <p:cNvSpPr/>
          <p:nvPr/>
        </p:nvSpPr>
        <p:spPr>
          <a:xfrm>
            <a:off x="2190985" y="1335593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Impact on Target Audience: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5F0831-C515-A95E-65C6-869DD649CFA0}"/>
              </a:ext>
            </a:extLst>
          </p:cNvPr>
          <p:cNvSpPr/>
          <p:nvPr/>
        </p:nvSpPr>
        <p:spPr>
          <a:xfrm>
            <a:off x="2150680" y="2448763"/>
            <a:ext cx="2979175" cy="196047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Enhanced Safety:</a:t>
            </a:r>
          </a:p>
          <a:p>
            <a:pPr algn="ctr"/>
            <a:r>
              <a:rPr lang="en-US" b="1" dirty="0"/>
              <a:t> </a:t>
            </a:r>
            <a:r>
              <a:rPr lang="en-US" dirty="0"/>
              <a:t>Tourists gain real-time insights into coastal conditions, improving their safety and decision-making when visiting beaches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E94221-23EF-4645-B606-C86D807EB0C8}"/>
              </a:ext>
            </a:extLst>
          </p:cNvPr>
          <p:cNvSpPr/>
          <p:nvPr/>
        </p:nvSpPr>
        <p:spPr>
          <a:xfrm>
            <a:off x="2190987" y="4773671"/>
            <a:ext cx="2979175" cy="193457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Informed Decisions: </a:t>
            </a:r>
          </a:p>
          <a:p>
            <a:pPr algn="ctr"/>
            <a:r>
              <a:rPr lang="en-US" dirty="0"/>
              <a:t>Locals and businesses can make better-informed decisions about beach activities, leading to optimized tourism experiences.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ADFCBD-4B11-2894-D66A-6D5FB0737EA0}"/>
              </a:ext>
            </a:extLst>
          </p:cNvPr>
          <p:cNvCxnSpPr>
            <a:cxnSpLocks/>
          </p:cNvCxnSpPr>
          <p:nvPr/>
        </p:nvCxnSpPr>
        <p:spPr>
          <a:xfrm>
            <a:off x="2831691" y="2130002"/>
            <a:ext cx="0" cy="318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5023F4-03D6-529C-144A-B251339A12DB}"/>
              </a:ext>
            </a:extLst>
          </p:cNvPr>
          <p:cNvCxnSpPr>
            <a:cxnSpLocks/>
          </p:cNvCxnSpPr>
          <p:nvPr/>
        </p:nvCxnSpPr>
        <p:spPr>
          <a:xfrm>
            <a:off x="4390104" y="2130002"/>
            <a:ext cx="0" cy="318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99AAD2-84E9-BEF9-3683-05CEBDADA212}"/>
              </a:ext>
            </a:extLst>
          </p:cNvPr>
          <p:cNvCxnSpPr>
            <a:cxnSpLocks/>
          </p:cNvCxnSpPr>
          <p:nvPr/>
        </p:nvCxnSpPr>
        <p:spPr>
          <a:xfrm>
            <a:off x="2757949" y="4409237"/>
            <a:ext cx="0" cy="364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E8BD3E-6C7C-33BC-8AA1-9FF97EAB176F}"/>
              </a:ext>
            </a:extLst>
          </p:cNvPr>
          <p:cNvCxnSpPr>
            <a:cxnSpLocks/>
          </p:cNvCxnSpPr>
          <p:nvPr/>
        </p:nvCxnSpPr>
        <p:spPr>
          <a:xfrm>
            <a:off x="4390104" y="4409237"/>
            <a:ext cx="0" cy="364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A92DE38-1D21-E36D-0748-7AB1703052D6}"/>
              </a:ext>
            </a:extLst>
          </p:cNvPr>
          <p:cNvSpPr/>
          <p:nvPr/>
        </p:nvSpPr>
        <p:spPr>
          <a:xfrm>
            <a:off x="7498604" y="1209860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Benefits of the Solution: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800663-1758-0F86-30DD-65E5DE1B7DDA}"/>
              </a:ext>
            </a:extLst>
          </p:cNvPr>
          <p:cNvSpPr/>
          <p:nvPr/>
        </p:nvSpPr>
        <p:spPr>
          <a:xfrm>
            <a:off x="6196505" y="2412680"/>
            <a:ext cx="2277806" cy="190909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Social: </a:t>
            </a:r>
          </a:p>
          <a:p>
            <a:pPr algn="ctr"/>
            <a:r>
              <a:rPr lang="en-US" sz="1600" dirty="0"/>
              <a:t>Promotes public safety and awareness, reducing accidents related to unpredictable coastal conditions.</a:t>
            </a:r>
            <a:endParaRPr lang="en-IN" sz="16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AD0694-5FE1-54D6-CA7E-431E4F2EEBB3}"/>
              </a:ext>
            </a:extLst>
          </p:cNvPr>
          <p:cNvSpPr/>
          <p:nvPr/>
        </p:nvSpPr>
        <p:spPr>
          <a:xfrm>
            <a:off x="9540962" y="2448763"/>
            <a:ext cx="2277806" cy="18407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Economic</a:t>
            </a:r>
            <a:r>
              <a:rPr lang="en-US" sz="1600" dirty="0"/>
              <a:t>: </a:t>
            </a:r>
          </a:p>
          <a:p>
            <a:pPr algn="ctr"/>
            <a:r>
              <a:rPr lang="en-US" sz="1600" dirty="0"/>
              <a:t>Encourages tourism by providing reliable safety information, potentially increasing local business revenues.</a:t>
            </a:r>
            <a:endParaRPr lang="en-IN" sz="16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CA3156-542F-9D7C-CCB1-A5F1E4DC116B}"/>
              </a:ext>
            </a:extLst>
          </p:cNvPr>
          <p:cNvSpPr/>
          <p:nvPr/>
        </p:nvSpPr>
        <p:spPr>
          <a:xfrm>
            <a:off x="7763514" y="4484637"/>
            <a:ext cx="2277806" cy="23270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Environmental</a:t>
            </a:r>
            <a:r>
              <a:rPr lang="en-US" sz="1600" dirty="0"/>
              <a:t>: </a:t>
            </a:r>
          </a:p>
          <a:p>
            <a:pPr algn="ctr"/>
            <a:r>
              <a:rPr lang="en-US" sz="1600" dirty="0"/>
              <a:t>Helps preserve natural environments by advising against activities during unsafe conditions, preventing environmental </a:t>
            </a:r>
          </a:p>
          <a:p>
            <a:pPr algn="ctr"/>
            <a:r>
              <a:rPr lang="en-US" sz="1600" dirty="0"/>
              <a:t>Damage</a:t>
            </a:r>
            <a:r>
              <a:rPr lang="en-US" sz="1600" b="1" dirty="0"/>
              <a:t>.</a:t>
            </a:r>
            <a:endParaRPr lang="en-IN" sz="16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1E6860B-A77A-9B18-C84C-D61BD2D980AA}"/>
              </a:ext>
            </a:extLst>
          </p:cNvPr>
          <p:cNvCxnSpPr>
            <a:endCxn id="22" idx="1"/>
          </p:cNvCxnSpPr>
          <p:nvPr/>
        </p:nvCxnSpPr>
        <p:spPr>
          <a:xfrm rot="16200000" flipH="1">
            <a:off x="6664437" y="4549062"/>
            <a:ext cx="1326361" cy="87179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ACD856D-3954-6670-19A1-96D84BE56E90}"/>
              </a:ext>
            </a:extLst>
          </p:cNvPr>
          <p:cNvCxnSpPr>
            <a:stCxn id="21" idx="2"/>
            <a:endCxn id="22" idx="3"/>
          </p:cNvCxnSpPr>
          <p:nvPr/>
        </p:nvCxnSpPr>
        <p:spPr>
          <a:xfrm rot="5400000">
            <a:off x="9681293" y="4649567"/>
            <a:ext cx="1358601" cy="63854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0EDEC9A-352D-0657-5DEA-DFC78ECF490B}"/>
              </a:ext>
            </a:extLst>
          </p:cNvPr>
          <p:cNvCxnSpPr>
            <a:stCxn id="19" idx="1"/>
          </p:cNvCxnSpPr>
          <p:nvPr/>
        </p:nvCxnSpPr>
        <p:spPr>
          <a:xfrm rot="10800000" flipV="1">
            <a:off x="7020232" y="1607065"/>
            <a:ext cx="478372" cy="84169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B097F8D-6B51-B123-5603-7100358C004D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397171" y="1607065"/>
            <a:ext cx="555964" cy="84169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63794" y="46341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83226" y="2091993"/>
            <a:ext cx="9385300" cy="3200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References and Research Work: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INCOIS API</a:t>
            </a:r>
            <a:r>
              <a:rPr lang="en-IN" dirty="0"/>
              <a:t>: Used for real-time coastal data on environmental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Geospatial Tools</a:t>
            </a:r>
            <a:r>
              <a:rPr lang="en-IN" dirty="0"/>
              <a:t>: Integration of Google Maps API for interactive mapping.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Machine Learning</a:t>
            </a:r>
            <a:r>
              <a:rPr lang="en-IN" dirty="0"/>
              <a:t>: Predictive models enhance the app's accuracy, based on recent research.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Microservices Architecture</a:t>
            </a:r>
            <a:r>
              <a:rPr lang="en-IN" dirty="0"/>
              <a:t>: Ensures app scalability and reliability.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sz="2000" b="1" dirty="0"/>
              <a:t>Links: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INCOIS API Documentation-</a:t>
            </a:r>
            <a:r>
              <a:rPr lang="fr-FR" dirty="0">
                <a:hlinkClick r:id="rId3"/>
              </a:rPr>
              <a:t>ESSO-INCOIS-</a:t>
            </a:r>
            <a:r>
              <a:rPr lang="fr-FR" dirty="0" err="1">
                <a:hlinkClick r:id="rId3"/>
              </a:rPr>
              <a:t>Indian</a:t>
            </a:r>
            <a:r>
              <a:rPr lang="fr-FR" dirty="0">
                <a:hlinkClick r:id="rId3"/>
              </a:rPr>
              <a:t> National Centre for </a:t>
            </a:r>
            <a:r>
              <a:rPr lang="fr-FR" dirty="0" err="1">
                <a:hlinkClick r:id="rId3"/>
              </a:rPr>
              <a:t>Ocean</a:t>
            </a:r>
            <a:r>
              <a:rPr lang="fr-FR" dirty="0">
                <a:hlinkClick r:id="rId3"/>
              </a:rPr>
              <a:t> Information Services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Map API-</a:t>
            </a:r>
            <a:r>
              <a:rPr lang="en-IN" dirty="0">
                <a:hlinkClick r:id="rId4"/>
              </a:rPr>
              <a:t>https://console.cloud.google.com/</a:t>
            </a:r>
            <a:r>
              <a:rPr lang="en-IN" dirty="0" err="1">
                <a:hlinkClick r:id="rId4"/>
              </a:rPr>
              <a:t>apis</a:t>
            </a:r>
            <a:r>
              <a:rPr lang="en-IN" dirty="0">
                <a:hlinkClick r:id="rId4"/>
              </a:rPr>
              <a:t>/</a:t>
            </a:r>
            <a:r>
              <a:rPr lang="en-IN" dirty="0" err="1">
                <a:hlinkClick r:id="rId4"/>
              </a:rPr>
              <a:t>library?hl</a:t>
            </a:r>
            <a:r>
              <a:rPr lang="en-IN" dirty="0">
                <a:hlinkClick r:id="rId4"/>
              </a:rPr>
              <a:t>=</a:t>
            </a:r>
            <a:r>
              <a:rPr lang="en-IN" dirty="0" err="1">
                <a:hlinkClick r:id="rId4"/>
              </a:rPr>
              <a:t>en&amp;project</a:t>
            </a:r>
            <a:r>
              <a:rPr lang="en-IN" dirty="0">
                <a:hlinkClick r:id="rId4"/>
              </a:rPr>
              <a:t>=zinc-bucksaw-433313-u2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310169"/>
            <a:ext cx="1500473" cy="88268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7827</TotalTime>
  <Words>586</Words>
  <Application>Microsoft Office PowerPoint</Application>
  <PresentationFormat>Widescreen</PresentationFormat>
  <Paragraphs>102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montserratregular</vt:lpstr>
      <vt:lpstr>Times New Roman</vt:lpstr>
      <vt:lpstr>TradeGothic</vt:lpstr>
      <vt:lpstr>Office Theme</vt:lpstr>
      <vt:lpstr>SMART INDIA HACKATHON 2024</vt:lpstr>
      <vt:lpstr> The Coastal Tourism Suitability Mobile App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Unknown Gumanam</cp:lastModifiedBy>
  <cp:revision>153</cp:revision>
  <dcterms:created xsi:type="dcterms:W3CDTF">2013-12-12T18:46:50Z</dcterms:created>
  <dcterms:modified xsi:type="dcterms:W3CDTF">2024-08-29T04:13:53Z</dcterms:modified>
  <cp:category/>
</cp:coreProperties>
</file>